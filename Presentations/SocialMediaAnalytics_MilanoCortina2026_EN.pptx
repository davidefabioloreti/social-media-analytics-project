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vOuvfNrnu/dt61Z/rl2HUq/dE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580" autoAdjust="0"/>
  </p:normalViewPr>
  <p:slideViewPr>
    <p:cSldViewPr snapToGrid="0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8" name="Google Shape;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76" name="Google Shape;2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7" name="Google Shape;27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80" name="Google Shape;38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109728"/>
            <a:ext cx="4023360" cy="6748272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1122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931920" y="109728"/>
            <a:ext cx="73152" cy="6748272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20040" y="73152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SOCIAL MEDIA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2468880"/>
            <a:ext cx="2377440" cy="36576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82880" y="26060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OLYMPICS WINTER GAMES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 – CORTINA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82880" y="36576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Sentiment &amp; Social Network Analysis on Reddit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82880" y="4480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24,745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82880" y="48006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Comments analysed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82880" y="5212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9,355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82880" y="55321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Unique authors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82880" y="5943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82880" y="62636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Subreddits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160520" y="91440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Reddit Discourse Analysis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160520" y="16002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Pre-Olympics Sentiment, NER &amp; Social Network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160520" y="2331720"/>
            <a:ext cx="2514600" cy="2011680"/>
          </a:xfrm>
          <a:prstGeom prst="rect">
            <a:avLst/>
          </a:prstGeom>
          <a:solidFill>
            <a:srgbClr val="1C3A6B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4160520" y="246888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251960" y="29260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251960" y="333756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VADER + RoBERTa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55% globally positive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830568" y="2331720"/>
            <a:ext cx="2514600" cy="2011680"/>
          </a:xfrm>
          <a:prstGeom prst="rect">
            <a:avLst/>
          </a:prstGeom>
          <a:solidFill>
            <a:srgbClr val="1C3A6B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830568" y="246888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922008" y="29260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Named Entity Rec.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922008" y="333756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8,000 comments sampled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Athletes, nations, orgs.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9500616" y="2331720"/>
            <a:ext cx="2514600" cy="2011680"/>
          </a:xfrm>
          <a:prstGeom prst="rect">
            <a:avLst/>
          </a:prstGeom>
          <a:solidFill>
            <a:srgbClr val="1C3A6B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9500616" y="246888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🕸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9592056" y="29260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Social Network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9592056" y="333756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690 nodes · 2,571 edges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74 communities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160520" y="4572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Period: December 2024 – March 2025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160520" y="49377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Davide Fabio Loreti (865309) ·  Carlo Pegoraro (865329)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20040" y="73152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Project Objectives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2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65760" y="100584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Framework: Social Media Analytics applied to the Milan-Cortina 2026 Winter Olympic Games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20040" y="1463040"/>
            <a:ext cx="3749040" cy="50292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20040" y="1463040"/>
            <a:ext cx="3749040" cy="640080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57200" y="1536192"/>
            <a:ext cx="34747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💬  Sentiment Analysis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02920" y="228600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Measure the emotional tone of comments across thematic subreddits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02920" y="310896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Distinguish positive, negative and neutral comments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02920" y="393192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 the temporal evolution of sentiment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251960" y="1463040"/>
            <a:ext cx="3749040" cy="50292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251960" y="1463040"/>
            <a:ext cx="3749040" cy="6400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389120" y="1536192"/>
            <a:ext cx="34747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Named Entity Recognition (NER)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434840" y="228600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Identify the most mentioned entities: athletes, nations, orgs.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434840" y="310896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Understand which subjects dominate the conversation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434840" y="393192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spaCy on a sample of 8,000 comments (5 categories)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183880" y="1463040"/>
            <a:ext cx="3749040" cy="50292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8183880" y="1463040"/>
            <a:ext cx="3749040" cy="64008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8321040" y="1536192"/>
            <a:ext cx="34747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🕸  Social Network Analysis (SNA)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366760" y="228600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Reconstruct the user interaction network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366760" y="310896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Identify the most influential users and communities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8366760" y="393192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Greedy Modularity on filtered subgraph (≥5 interactions)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20040" y="73152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Data &amp; Dataset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3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20040" y="1005840"/>
            <a:ext cx="5029200" cy="5394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20040" y="1005840"/>
            <a:ext cx="5029200" cy="502920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1122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57200" y="1042416"/>
            <a:ext cx="475488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📡  Collection Strategy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166420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API: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298448" y="16642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Arctic Shift – Reddit historical archive, no rate-limit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200" y="253288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Phase 1: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298448" y="253288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908 posts from 7 subreddits (keywords: 'Milano-Cortina', '2026 Olympics'…)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57200" y="340156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Phase 2: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298448" y="340156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Paginated download of comments via /api/comments/search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57200" y="427024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Filters: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298448" y="427024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Excluded [deleted], [removed] and empty comments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57200" y="5138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Delay: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298448" y="513892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0.8s between requests to respect API usage policies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760720" y="1005840"/>
            <a:ext cx="6080760" cy="5394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760720" y="1005840"/>
            <a:ext cx="6080760" cy="502920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1122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5897880" y="1042416"/>
            <a:ext cx="576072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Dataset Statistics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989320" y="1645920"/>
            <a:ext cx="2651760" cy="1097280"/>
          </a:xfrm>
          <a:prstGeom prst="rect">
            <a:avLst/>
          </a:prstGeom>
          <a:solidFill>
            <a:srgbClr val="EEF2F8"/>
          </a:solidFill>
          <a:ln w="12700" cap="flat" cmpd="sng">
            <a:solidFill>
              <a:srgbClr val="8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5989320" y="171907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908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080760" y="226771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Processed posts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869680" y="1645920"/>
            <a:ext cx="2651760" cy="1097280"/>
          </a:xfrm>
          <a:prstGeom prst="rect">
            <a:avLst/>
          </a:prstGeom>
          <a:solidFill>
            <a:srgbClr val="EEF2F8"/>
          </a:solidFill>
          <a:ln w="12700" cap="flat" cmpd="sng">
            <a:solidFill>
              <a:srgbClr val="8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8869680" y="171907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24,745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961120" y="226771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comments collected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989320" y="3063240"/>
            <a:ext cx="2651760" cy="1097280"/>
          </a:xfrm>
          <a:prstGeom prst="rect">
            <a:avLst/>
          </a:prstGeom>
          <a:solidFill>
            <a:srgbClr val="EEF2F8"/>
          </a:solidFill>
          <a:ln w="12700" cap="flat" cmpd="sng">
            <a:solidFill>
              <a:srgbClr val="8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989320" y="313639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9,355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080760" y="368503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Unique authors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869680" y="3063240"/>
            <a:ext cx="2651760" cy="1097280"/>
          </a:xfrm>
          <a:prstGeom prst="rect">
            <a:avLst/>
          </a:prstGeom>
          <a:solidFill>
            <a:srgbClr val="EEF2F8"/>
          </a:solidFill>
          <a:ln w="12700" cap="flat" cmpd="sng">
            <a:solidFill>
              <a:srgbClr val="8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869680" y="313639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20,691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8961120" y="368503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Network edges (user-to-user)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989320" y="4480560"/>
            <a:ext cx="2651760" cy="1097280"/>
          </a:xfrm>
          <a:prstGeom prst="rect">
            <a:avLst/>
          </a:prstGeom>
          <a:solidFill>
            <a:srgbClr val="EEF2F8"/>
          </a:solidFill>
          <a:ln w="12700" cap="flat" cmpd="sng">
            <a:solidFill>
              <a:srgbClr val="8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5989320" y="455371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080760" y="510235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Subreddits analysed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869680" y="4480560"/>
            <a:ext cx="2651760" cy="1097280"/>
          </a:xfrm>
          <a:prstGeom prst="rect">
            <a:avLst/>
          </a:prstGeom>
          <a:solidFill>
            <a:srgbClr val="EEF2F8"/>
          </a:solidFill>
          <a:ln w="12700" cap="flat" cmpd="sng">
            <a:solidFill>
              <a:srgbClr val="8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8869680" y="455371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8,000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961120" y="510235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Comments sampled for NER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320040" y="73152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Analysis Models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4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20040" y="1005840"/>
            <a:ext cx="5577840" cy="24688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20040" y="1005840"/>
            <a:ext cx="5577840" cy="502920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57200" y="106984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VADER  ·  Rule-based Lexical Model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02920" y="16002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Compound score in [-1, +1]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02920" y="202082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&gt;0.05 = positive · &lt;-0.05 = negative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02920" y="24414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Applied to the full corpus (24,745 comments)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02920" y="286207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Efficient for informal text and expressive punctuation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080760" y="1005840"/>
            <a:ext cx="5577840" cy="24688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6080760" y="1005840"/>
            <a:ext cx="5577840" cy="50292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217920" y="106984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RoBERTa  ·  cardiffnlp/twitter-roberta-base-sentiment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263640" y="16002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Transformer fine-tuned on Twitter data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263640" y="202082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classes: positive / neutral / negative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263640" y="24414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Captures long-distance contextual dependencies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263640" y="286207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Applied to a sample for comparison with VADER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20040" y="3703320"/>
            <a:ext cx="5577840" cy="24688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320040" y="3703320"/>
            <a:ext cx="5577840" cy="502920"/>
          </a:xfrm>
          <a:prstGeom prst="rect">
            <a:avLst/>
          </a:prstGeom>
          <a:solidFill>
            <a:srgbClr val="7B1FA2"/>
          </a:solidFill>
          <a:ln w="12700" cap="flat" cmpd="sng">
            <a:solidFill>
              <a:srgbClr val="7B1F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57200" y="376732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NER (spaCy)  ·  en_core_web_sm – 8,000 comments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02920" y="42976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 categories: PERSON, GPE, ORG, EVENT, LOC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02920" y="47183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Text limited to 1,000 chars per comment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02920" y="513892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Entities aggregated by frequency and sentiment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02920" y="55595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Stratified random sample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080760" y="3703320"/>
            <a:ext cx="5577840" cy="24688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080760" y="3703320"/>
            <a:ext cx="5577840" cy="5029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6217920" y="376732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SNA  ·  Social Network Analysis – Greedy Modularity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263640" y="42976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In-degree, PageRank, community detection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263640" y="47183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Filtered subgraph: ≥5 interactions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263640" y="513892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690 nodes · 2,571 edges · 74 communities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263640" y="55595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Fruchterman-Reingold layout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320040" y="73152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4.1 Global Sentiment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5 / 14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20040" y="1005840"/>
            <a:ext cx="4389120" cy="5394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457200" y="1143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The corpus is predominantly positive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02920" y="1783080"/>
            <a:ext cx="4023360" cy="914400"/>
          </a:xfrm>
          <a:prstGeom prst="rect">
            <a:avLst/>
          </a:prstGeom>
          <a:solidFill>
            <a:srgbClr val="27AE60">
              <a:alpha val="14901"/>
            </a:srgbClr>
          </a:solidFill>
          <a:ln w="254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594360" y="182880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55%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828800" y="18745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02920" y="2880360"/>
            <a:ext cx="4023360" cy="914400"/>
          </a:xfrm>
          <a:prstGeom prst="rect">
            <a:avLst/>
          </a:prstGeom>
          <a:solidFill>
            <a:srgbClr val="F1C40F">
              <a:alpha val="14901"/>
            </a:srgbClr>
          </a:solidFill>
          <a:ln w="25400" cap="flat" cmpd="sng">
            <a:solidFill>
              <a:srgbClr val="F1C4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594360" y="292608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24%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1828800" y="297180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02920" y="3977640"/>
            <a:ext cx="4023360" cy="914400"/>
          </a:xfrm>
          <a:prstGeom prst="rect">
            <a:avLst/>
          </a:prstGeom>
          <a:solidFill>
            <a:srgbClr val="E74C3C">
              <a:alpha val="14901"/>
            </a:srgbClr>
          </a:solidFill>
          <a:ln w="254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594360" y="402336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21%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828800" y="406908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57200" y="516636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Average VADER compound score: +0.24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(neutral threshold: ±0.05)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937760" y="1005840"/>
            <a:ext cx="6903720" cy="5394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4" name="Google Shape;184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4920" y="1143000"/>
            <a:ext cx="6629400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69626"/>
            <a:ext cx="12192000" cy="62883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90;p6">
            <a:extLst>
              <a:ext uri="{FF2B5EF4-FFF2-40B4-BE49-F238E27FC236}">
                <a16:creationId xmlns:a16="http://schemas.microsoft.com/office/drawing/2014/main" id="{002FD330-2574-6A56-FB03-5B168AAFB393}"/>
              </a:ext>
            </a:extLst>
          </p:cNvPr>
          <p:cNvSpPr/>
          <p:nvPr/>
        </p:nvSpPr>
        <p:spPr>
          <a:xfrm>
            <a:off x="0" y="18288"/>
            <a:ext cx="12161520" cy="551338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4.2  Sentiment by Subreddit</a:t>
            </a:r>
            <a:endParaRPr sz="2200" dirty="0"/>
          </a:p>
        </p:txBody>
      </p:sp>
      <p:sp>
        <p:nvSpPr>
          <p:cNvPr id="3" name="Google Shape;168;p5">
            <a:extLst>
              <a:ext uri="{FF2B5EF4-FFF2-40B4-BE49-F238E27FC236}">
                <a16:creationId xmlns:a16="http://schemas.microsoft.com/office/drawing/2014/main" id="{D0C9CD61-BF5E-2EBC-28CB-0D8D3A86DE79}"/>
              </a:ext>
            </a:extLst>
          </p:cNvPr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9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/ 14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5300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0" y="18288"/>
            <a:ext cx="12161520" cy="26517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274320" y="-153349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Sentiment by Subreddit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0863122" y="-89341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9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 / 14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27" y="391092"/>
            <a:ext cx="11732053" cy="3364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/>
          <p:nvPr/>
        </p:nvSpPr>
        <p:spPr>
          <a:xfrm>
            <a:off x="109427" y="3871621"/>
            <a:ext cx="11732053" cy="2621856"/>
          </a:xfrm>
          <a:prstGeom prst="rect">
            <a:avLst/>
          </a:prstGeom>
          <a:solidFill>
            <a:srgbClr val="112244"/>
          </a:solidFill>
          <a:ln w="1905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rgbClr val="F0C040"/>
              </a:buClr>
              <a:buSzPts val="1200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641080" y="400507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FDAF981-B929-6515-CFCA-06609B6F4F1C}"/>
              </a:ext>
            </a:extLst>
          </p:cNvPr>
          <p:cNvSpPr txBox="1"/>
          <p:nvPr/>
        </p:nvSpPr>
        <p:spPr>
          <a:xfrm>
            <a:off x="274320" y="4005072"/>
            <a:ext cx="628012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💡 Key Findings</a:t>
            </a:r>
          </a:p>
          <a:p>
            <a:endParaRPr lang="en-US" b="1" dirty="0">
              <a:solidFill>
                <a:srgbClr val="F0C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600" dirty="0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🥇 Biathlon: 62% positive (VADER 0.31)</a:t>
            </a:r>
          </a:p>
          <a:p>
            <a:endParaRPr lang="en-US" sz="1600" dirty="0">
              <a:solidFill>
                <a:srgbClr val="EEF2F8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600" dirty="0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⛸ FigureSkating: 58% positive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600" dirty="0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⛷ Skiing: 34% negative (VADER 0.09)</a:t>
            </a:r>
          </a:p>
          <a:p>
            <a:endParaRPr lang="en-US" sz="1600" dirty="0">
              <a:solidFill>
                <a:srgbClr val="EEF2F8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600" dirty="0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📊 Olympics: most heterogeneous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it-IT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320040" y="73152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4.3 VADER vs. RoBERTa Comparison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9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 / 14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32688"/>
            <a:ext cx="9418320" cy="579729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9418320" y="1067450"/>
            <a:ext cx="2725212" cy="5394960"/>
          </a:xfrm>
          <a:prstGeom prst="rect">
            <a:avLst/>
          </a:prstGeom>
          <a:solidFill>
            <a:srgbClr val="0A1628"/>
          </a:solidFill>
          <a:ln w="1905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rgbClr val="F0C040"/>
              </a:buClr>
              <a:buSzPts val="1300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9025827" y="1363505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57.6%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9025827" y="17876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overall agreement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9025827" y="228142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88%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9025827" y="266090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agreement on positives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9025827" y="3146885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54%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9025827" y="3531591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agreement on negatives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9025827" y="4024709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47%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9025827" y="4397215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 err="1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r>
              <a:rPr lang="en-US" sz="10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 neutral → VADER positive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9436308" y="4954993"/>
            <a:ext cx="2707224" cy="85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VADER tends to overestimate positivity in ambiguous, ironic, or negated comments</a:t>
            </a:r>
            <a:r>
              <a:rPr lang="en-US" sz="900" b="0" i="1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9743E6-E581-3458-CFBC-0097DFF79952}"/>
              </a:ext>
            </a:extLst>
          </p:cNvPr>
          <p:cNvSpPr txBox="1"/>
          <p:nvPr/>
        </p:nvSpPr>
        <p:spPr>
          <a:xfrm>
            <a:off x="9608695" y="1097275"/>
            <a:ext cx="2126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320040" y="73152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4.4 Temporal Evolution of Sentiment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9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 / 14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20040" y="1005840"/>
            <a:ext cx="6858000" cy="5394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97280"/>
            <a:ext cx="6583680" cy="5212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/>
          <p:nvPr/>
        </p:nvSpPr>
        <p:spPr>
          <a:xfrm>
            <a:off x="7360920" y="1005840"/>
            <a:ext cx="4480560" cy="5394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2360" y="1097280"/>
            <a:ext cx="429768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8"/>
          <p:cNvSpPr/>
          <p:nvPr/>
        </p:nvSpPr>
        <p:spPr>
          <a:xfrm>
            <a:off x="7360920" y="1005840"/>
            <a:ext cx="54864" cy="539496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20040" y="73152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4.4–4.5 Key Moments &amp; Sentiment Vocabulary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9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/ 14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20040" y="1005840"/>
            <a:ext cx="4114800" cy="5394960"/>
          </a:xfrm>
          <a:prstGeom prst="rect">
            <a:avLst/>
          </a:prstGeom>
          <a:solidFill>
            <a:srgbClr val="0A1628"/>
          </a:solidFill>
          <a:ln w="1905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457200" y="11155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⏱ Key Moments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57200" y="1645920"/>
            <a:ext cx="3749040" cy="1325880"/>
          </a:xfrm>
          <a:prstGeom prst="rect">
            <a:avLst/>
          </a:prstGeom>
          <a:solidFill>
            <a:srgbClr val="1C3A6B"/>
          </a:solidFill>
          <a:ln w="1905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594360" y="17190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b="1" i="0" u="none" strike="noStrike" cap="none" dirty="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13 Jan 2025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2743200" y="17190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0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VADER ~0.32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94360" y="202996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Initial peak: positive announcements from the </a:t>
            </a:r>
            <a:r>
              <a:rPr lang="en-US" b="0" i="0" u="none" strike="noStrike" cap="none" dirty="0" err="1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Organising</a:t>
            </a:r>
            <a:r>
              <a:rPr lang="en-US" b="0" i="0" u="none" strike="noStrike" cap="none" dirty="0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 Committee and growing expectations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57200" y="3154680"/>
            <a:ext cx="3749040" cy="1325880"/>
          </a:xfrm>
          <a:prstGeom prst="rect">
            <a:avLst/>
          </a:prstGeom>
          <a:solidFill>
            <a:srgbClr val="1C3A6B"/>
          </a:solidFill>
          <a:ln w="19050" cap="flat" cmpd="sng">
            <a:solidFill>
              <a:srgbClr val="F1C4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594360" y="32278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C40F"/>
              </a:buClr>
              <a:buSzPts val="1100"/>
              <a:buFont typeface="Calibri"/>
              <a:buNone/>
            </a:pPr>
            <a:r>
              <a:rPr lang="en-US" b="1" i="0" u="none" strike="noStrike" cap="none" dirty="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3 Mar 2025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2743200" y="32278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0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VADER ~0.20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94360" y="353872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Moderate dip: </a:t>
            </a:r>
            <a:r>
              <a:rPr lang="en-US" b="0" i="0" u="none" strike="noStrike" cap="none" dirty="0" err="1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organisational</a:t>
            </a:r>
            <a:r>
              <a:rPr lang="en-US" b="0" i="0" u="none" strike="noStrike" cap="none" dirty="0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 controversies and/or sporting disappointments. Only negative case: Curling (VADER ~-0.14)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57200" y="4663440"/>
            <a:ext cx="3749040" cy="1325880"/>
          </a:xfrm>
          <a:prstGeom prst="rect">
            <a:avLst/>
          </a:prstGeom>
          <a:solidFill>
            <a:srgbClr val="1C3A6B"/>
          </a:solidFill>
          <a:ln w="1905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594360" y="47365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lang="en-US" b="1" i="0" u="none" strike="noStrike" cap="none" dirty="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Late Mar 2025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2743200" y="473659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000"/>
              <a:buFont typeface="Calibri"/>
              <a:buNone/>
            </a:pPr>
            <a:r>
              <a:rPr lang="en-US" sz="16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VADER ~0.44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94360" y="504748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950"/>
              <a:buFont typeface="Calibri"/>
              <a:buNone/>
            </a:pPr>
            <a:r>
              <a:rPr lang="en-US" b="0" i="0" u="none" strike="noStrike" cap="none" dirty="0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Maximum peak: strong collective enthusiasm with near-zero negative comments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4840" y="928116"/>
            <a:ext cx="7726680" cy="5673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320040" y="73152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4.6 Named Entity Recognition – Top Entities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11/ 14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320040" y="1005840"/>
            <a:ext cx="11521440" cy="3017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Top 15 entities per category (sample 8,000 comments): People · GPE · Organisations · Events · Locations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9888"/>
            <a:ext cx="1124712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/>
          <p:nvPr/>
        </p:nvSpPr>
        <p:spPr>
          <a:xfrm>
            <a:off x="320040" y="4251960"/>
            <a:ext cx="5577840" cy="914400"/>
          </a:xfrm>
          <a:prstGeom prst="rect">
            <a:avLst/>
          </a:prstGeom>
          <a:solidFill>
            <a:srgbClr val="EEF2F8"/>
          </a:solidFill>
          <a:ln w="12700" cap="flat" cmpd="sng">
            <a:solidFill>
              <a:srgbClr val="8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429768" y="430682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👤 People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29768" y="46177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Alysa Liu (~100 mentions), Kaori Sakamoto, Ami Sato – all figure skaters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080760" y="4251960"/>
            <a:ext cx="5577840" cy="914400"/>
          </a:xfrm>
          <a:prstGeom prst="rect">
            <a:avLst/>
          </a:prstGeom>
          <a:solidFill>
            <a:srgbClr val="EEF2F8"/>
          </a:solidFill>
          <a:ln w="12700" cap="flat" cmpd="sng">
            <a:solidFill>
              <a:srgbClr val="8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6190488" y="430682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🌍 Countries/Cities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190488" y="46177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Canada (~270), Italy (~175), USA (~150) – strong fan communities on Reddit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320040" y="5349240"/>
            <a:ext cx="5577840" cy="914400"/>
          </a:xfrm>
          <a:prstGeom prst="rect">
            <a:avLst/>
          </a:prstGeom>
          <a:solidFill>
            <a:srgbClr val="EEF2F8"/>
          </a:solidFill>
          <a:ln w="12700" cap="flat" cmpd="sng">
            <a:solidFill>
              <a:srgbClr val="8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429768" y="540410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🏢 Organisations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29768" y="571500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NBC and NHL lead – importance of US TV coverage and professional hockey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080760" y="5349240"/>
            <a:ext cx="5577840" cy="914400"/>
          </a:xfrm>
          <a:prstGeom prst="rect">
            <a:avLst/>
          </a:prstGeom>
          <a:solidFill>
            <a:srgbClr val="EEF2F8"/>
          </a:solidFill>
          <a:ln w="12700" cap="flat" cmpd="sng">
            <a:solidFill>
              <a:srgbClr val="8BAF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6190488" y="5404104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🏆 Events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6190488" y="571500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'Olympics' &gt;550 occurrences – most frequent event entity in the corpus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"/>
          <p:cNvSpPr/>
          <p:nvPr/>
        </p:nvSpPr>
        <p:spPr>
          <a:xfrm>
            <a:off x="0" y="-33578"/>
            <a:ext cx="12161520" cy="45720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p11"/>
          <p:cNvSpPr/>
          <p:nvPr/>
        </p:nvSpPr>
        <p:spPr>
          <a:xfrm>
            <a:off x="274320" y="-89941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4.6 NER – Athletes by Subreddit &amp; Sentiment by Country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12 / 14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669280" y="1069848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5872251-FDB7-35B4-068B-290F61C71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3622"/>
            <a:ext cx="12192000" cy="255908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7C70111-E0A4-C650-87AE-4F5275C00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574" y="2982705"/>
            <a:ext cx="8229600" cy="3747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320040" y="73152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4.7 Social Network Analysis – Network Structure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669A978-01AB-DEF3-7B37-435EE8D5F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40080"/>
            <a:ext cx="12192001" cy="6217920"/>
          </a:xfrm>
          <a:prstGeom prst="rect">
            <a:avLst/>
          </a:prstGeom>
        </p:spPr>
      </p:pic>
      <p:sp>
        <p:nvSpPr>
          <p:cNvPr id="342" name="Google Shape;342;p12"/>
          <p:cNvSpPr/>
          <p:nvPr/>
        </p:nvSpPr>
        <p:spPr>
          <a:xfrm>
            <a:off x="9052560" y="2377440"/>
            <a:ext cx="3108960" cy="44805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C899944-FF67-152A-986C-4243536EA4B6}"/>
              </a:ext>
            </a:extLst>
          </p:cNvPr>
          <p:cNvSpPr txBox="1"/>
          <p:nvPr/>
        </p:nvSpPr>
        <p:spPr>
          <a:xfrm>
            <a:off x="9129486" y="2685142"/>
            <a:ext cx="284915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accent4"/>
                </a:solidFill>
              </a:rPr>
              <a:t>🕸 </a:t>
            </a:r>
            <a:r>
              <a:rPr lang="it-IT" sz="1600" dirty="0" err="1">
                <a:solidFill>
                  <a:schemeClr val="accent4"/>
                </a:solidFill>
              </a:rPr>
              <a:t>Structure</a:t>
            </a:r>
            <a:endParaRPr lang="it-IT" sz="1600" dirty="0">
              <a:solidFill>
                <a:schemeClr val="accent4"/>
              </a:solidFill>
            </a:endParaRPr>
          </a:p>
          <a:p>
            <a:endParaRPr lang="it-IT" sz="1600" dirty="0"/>
          </a:p>
          <a:p>
            <a:r>
              <a:rPr lang="it-IT" dirty="0">
                <a:solidFill>
                  <a:schemeClr val="tx2"/>
                </a:solidFill>
              </a:rPr>
              <a:t>▸  </a:t>
            </a:r>
            <a:r>
              <a:rPr lang="it-IT" dirty="0" err="1">
                <a:solidFill>
                  <a:schemeClr val="tx2"/>
                </a:solidFill>
              </a:rPr>
              <a:t>Fruchterman</a:t>
            </a:r>
            <a:r>
              <a:rPr lang="it-IT" dirty="0">
                <a:solidFill>
                  <a:schemeClr val="tx2"/>
                </a:solidFill>
              </a:rPr>
              <a:t>-Reingold layout</a:t>
            </a:r>
          </a:p>
          <a:p>
            <a:endParaRPr lang="it-IT" dirty="0">
              <a:solidFill>
                <a:schemeClr val="tx2"/>
              </a:solidFill>
            </a:endParaRPr>
          </a:p>
          <a:p>
            <a:r>
              <a:rPr lang="it-IT" dirty="0">
                <a:solidFill>
                  <a:schemeClr val="tx2"/>
                </a:solidFill>
              </a:rPr>
              <a:t>▸  Nodes coloured by community (74 clusters)</a:t>
            </a:r>
          </a:p>
          <a:p>
            <a:endParaRPr lang="it-IT" dirty="0">
              <a:solidFill>
                <a:schemeClr val="tx2"/>
              </a:solidFill>
            </a:endParaRPr>
          </a:p>
          <a:p>
            <a:r>
              <a:rPr lang="it-IT" dirty="0">
                <a:solidFill>
                  <a:schemeClr val="tx2"/>
                </a:solidFill>
              </a:rPr>
              <a:t>▸  </a:t>
            </a:r>
            <a:r>
              <a:rPr lang="it-IT" dirty="0" err="1">
                <a:solidFill>
                  <a:schemeClr val="tx2"/>
                </a:solidFill>
              </a:rPr>
              <a:t>Node</a:t>
            </a:r>
            <a:r>
              <a:rPr lang="it-IT" dirty="0">
                <a:solidFill>
                  <a:schemeClr val="tx2"/>
                </a:solidFill>
              </a:rPr>
              <a:t> size ∝ in-degree</a:t>
            </a:r>
          </a:p>
          <a:p>
            <a:endParaRPr lang="it-IT" dirty="0">
              <a:solidFill>
                <a:schemeClr val="tx2"/>
              </a:solidFill>
            </a:endParaRPr>
          </a:p>
          <a:p>
            <a:r>
              <a:rPr lang="it-IT" dirty="0">
                <a:solidFill>
                  <a:schemeClr val="tx2"/>
                </a:solidFill>
              </a:rPr>
              <a:t>▸  Labels </a:t>
            </a:r>
            <a:r>
              <a:rPr lang="it-IT" dirty="0" err="1">
                <a:solidFill>
                  <a:schemeClr val="tx2"/>
                </a:solidFill>
              </a:rPr>
              <a:t>only</a:t>
            </a:r>
            <a:r>
              <a:rPr lang="it-IT" dirty="0">
                <a:solidFill>
                  <a:schemeClr val="tx2"/>
                </a:solidFill>
              </a:rPr>
              <a:t> for high-</a:t>
            </a:r>
            <a:r>
              <a:rPr lang="it-IT" dirty="0" err="1">
                <a:solidFill>
                  <a:schemeClr val="tx2"/>
                </a:solidFill>
              </a:rPr>
              <a:t>centrality</a:t>
            </a:r>
            <a:r>
              <a:rPr lang="it-IT" dirty="0">
                <a:solidFill>
                  <a:schemeClr val="tx2"/>
                </a:solidFill>
              </a:rPr>
              <a:t> users</a:t>
            </a:r>
          </a:p>
          <a:p>
            <a:endParaRPr lang="it-IT" dirty="0">
              <a:solidFill>
                <a:schemeClr val="tx2"/>
              </a:solidFill>
            </a:endParaRPr>
          </a:p>
          <a:p>
            <a:r>
              <a:rPr lang="it-IT" dirty="0">
                <a:solidFill>
                  <a:schemeClr val="tx2"/>
                </a:solidFill>
              </a:rPr>
              <a:t>▸  Highly </a:t>
            </a:r>
            <a:r>
              <a:rPr lang="it-IT" dirty="0" err="1">
                <a:solidFill>
                  <a:schemeClr val="tx2"/>
                </a:solidFill>
              </a:rPr>
              <a:t>skewed</a:t>
            </a:r>
            <a:r>
              <a:rPr lang="it-IT" dirty="0">
                <a:solidFill>
                  <a:schemeClr val="tx2"/>
                </a:solidFill>
              </a:rPr>
              <a:t> degree </a:t>
            </a:r>
            <a:r>
              <a:rPr lang="it-IT" dirty="0" err="1">
                <a:solidFill>
                  <a:schemeClr val="tx2"/>
                </a:solidFill>
              </a:rPr>
              <a:t>distribution</a:t>
            </a:r>
            <a:r>
              <a:rPr lang="it-IT" dirty="0">
                <a:solidFill>
                  <a:schemeClr val="tx2"/>
                </a:solidFill>
              </a:rPr>
              <a:t> → </a:t>
            </a:r>
            <a:r>
              <a:rPr lang="it-IT" dirty="0" err="1">
                <a:solidFill>
                  <a:schemeClr val="tx2"/>
                </a:solidFill>
              </a:rPr>
              <a:t>few</a:t>
            </a:r>
            <a:r>
              <a:rPr lang="it-IT" dirty="0">
                <a:solidFill>
                  <a:schemeClr val="tx2"/>
                </a:solidFill>
              </a:rPr>
              <a:t> hubs with </a:t>
            </a:r>
            <a:r>
              <a:rPr lang="it-IT" dirty="0" err="1">
                <a:solidFill>
                  <a:schemeClr val="tx2"/>
                </a:solidFill>
              </a:rPr>
              <a:t>many</a:t>
            </a:r>
            <a:r>
              <a:rPr lang="it-IT" dirty="0">
                <a:solidFill>
                  <a:schemeClr val="tx2"/>
                </a:solidFill>
              </a:rPr>
              <a:t> connections</a:t>
            </a:r>
          </a:p>
          <a:p>
            <a:endParaRPr lang="it-IT" dirty="0">
              <a:solidFill>
                <a:schemeClr val="tx2"/>
              </a:solidFill>
            </a:endParaRPr>
          </a:p>
          <a:p>
            <a:r>
              <a:rPr lang="it-IT" dirty="0">
                <a:solidFill>
                  <a:schemeClr val="tx2"/>
                </a:solidFill>
              </a:rPr>
              <a:t>▸  Strong </a:t>
            </a:r>
            <a:r>
              <a:rPr lang="it-IT" dirty="0" err="1">
                <a:solidFill>
                  <a:schemeClr val="tx2"/>
                </a:solidFill>
              </a:rPr>
              <a:t>thematic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dirty="0" err="1">
                <a:solidFill>
                  <a:schemeClr val="tx2"/>
                </a:solidFill>
              </a:rPr>
              <a:t>separation</a:t>
            </a:r>
            <a:r>
              <a:rPr lang="it-IT" dirty="0">
                <a:solidFill>
                  <a:schemeClr val="tx2"/>
                </a:solidFill>
              </a:rPr>
              <a:t> by </a:t>
            </a:r>
            <a:r>
              <a:rPr lang="it-IT" dirty="0" err="1">
                <a:solidFill>
                  <a:schemeClr val="tx2"/>
                </a:solidFill>
              </a:rPr>
              <a:t>subreddit</a:t>
            </a:r>
            <a:endParaRPr lang="it-IT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8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320040" y="73152"/>
            <a:ext cx="107899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4.7 User Centrality &amp; Community Distribution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10881360" y="914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14/ 14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0A1628"/>
          </a:solidFill>
          <a:ln w="12700" cap="flat" cmpd="sng">
            <a:solidFill>
              <a:srgbClr val="0A16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Milano-Cortina 2026 – Social Media Analytics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320040" y="1005840"/>
            <a:ext cx="6583680" cy="2834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457200" y="1069848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Top 15 users by In-degree and PageRank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9888"/>
            <a:ext cx="630936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3"/>
          <p:cNvSpPr/>
          <p:nvPr/>
        </p:nvSpPr>
        <p:spPr>
          <a:xfrm>
            <a:off x="7086600" y="1005840"/>
            <a:ext cx="4754880" cy="28346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7223760" y="1069848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3A6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3A6B"/>
                </a:solidFill>
                <a:latin typeface="Calibri"/>
                <a:ea typeface="Calibri"/>
                <a:cs typeface="Calibri"/>
                <a:sym typeface="Calibri"/>
              </a:rPr>
              <a:t>Community Heatmap – Subreddit × Top 8 Communities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23760" y="1389888"/>
            <a:ext cx="448056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/>
          <p:nvPr/>
        </p:nvSpPr>
        <p:spPr>
          <a:xfrm>
            <a:off x="320040" y="3977640"/>
            <a:ext cx="11521440" cy="2423160"/>
          </a:xfrm>
          <a:prstGeom prst="rect">
            <a:avLst/>
          </a:prstGeom>
          <a:solidFill>
            <a:srgbClr val="112244"/>
          </a:solidFill>
          <a:ln w="1905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457200" y="4069080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Key Users in the Network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457200" y="45262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Fun_With_Forks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[Dominant Hub]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457200" y="507492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1st for in-degree (&gt;1,200 replies) AND PageRank (~0.028). Central hub role: receives many replies from well-connected users.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343400" y="45262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FliryVorru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4343400" y="482803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[Second Hub]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343400" y="507492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2nd in both metrics. Confirms a stable hierarchy in the network with a few super-influential users.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8229600" y="45262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SpiritualWatermelon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8229600" y="482803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[Qualitative Influence]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8229600" y="507492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3rd in PageRank but not in top in-degree: replies come from particularly influential users.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Conclusions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365760" y="1097280"/>
            <a:ext cx="3657600" cy="2240280"/>
          </a:xfrm>
          <a:prstGeom prst="rect">
            <a:avLst/>
          </a:prstGeom>
          <a:solidFill>
            <a:srgbClr val="1C3A6B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365760" y="1097280"/>
            <a:ext cx="3657600" cy="502920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475488" y="1170432"/>
            <a:ext cx="3438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💬  Positive Global Sentiment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475488" y="1691640"/>
            <a:ext cx="343814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55% of comments positive (VADER). Average score +0.24 – widespread enthusiasm from the international winter sports community.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206240" y="1097280"/>
            <a:ext cx="3657600" cy="2240280"/>
          </a:xfrm>
          <a:prstGeom prst="rect">
            <a:avLst/>
          </a:prstGeom>
          <a:solidFill>
            <a:srgbClr val="1C3A6B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4206240" y="1097280"/>
            <a:ext cx="3657600" cy="502920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4315968" y="1170432"/>
            <a:ext cx="3438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⛸  Differentiated Communities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315968" y="1691640"/>
            <a:ext cx="343814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Biathlon and FigureSkating: most positive communities. Skiing: most critical (34% neg). Curling: only negative compound case (Mar 2025).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8046720" y="1097280"/>
            <a:ext cx="3657600" cy="2240280"/>
          </a:xfrm>
          <a:prstGeom prst="rect">
            <a:avLst/>
          </a:prstGeom>
          <a:solidFill>
            <a:srgbClr val="1C3A6B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8046720" y="1097280"/>
            <a:ext cx="3657600" cy="502920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8156448" y="1170432"/>
            <a:ext cx="3438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📈  Growing Temporal Trend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8156448" y="1691640"/>
            <a:ext cx="343814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Sentiment peak in late March 2025 (VADER ~0.44), consistent with the approaching Games date. Enthusiasm grew in the final weeks.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365760" y="3566160"/>
            <a:ext cx="3657600" cy="2240280"/>
          </a:xfrm>
          <a:prstGeom prst="rect">
            <a:avLst/>
          </a:prstGeom>
          <a:solidFill>
            <a:srgbClr val="1C3A6B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365760" y="3566160"/>
            <a:ext cx="3657600" cy="502920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475488" y="3639312"/>
            <a:ext cx="3438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🔍  Dominant Entities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475488" y="4160520"/>
            <a:ext cx="343814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Figure skating dominates (Alysa Liu, Kaori Sakamoto). Canada, USA and Italy/Milan the most mentioned countries/cities. NBC and NHL lead organisations.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4206240" y="3566160"/>
            <a:ext cx="3657600" cy="2240280"/>
          </a:xfrm>
          <a:prstGeom prst="rect">
            <a:avLst/>
          </a:prstGeom>
          <a:solidFill>
            <a:srgbClr val="1C3A6B"/>
          </a:solidFill>
          <a:ln w="12700" cap="flat" cmpd="sng">
            <a:solidFill>
              <a:srgbClr val="1C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4206240" y="3566160"/>
            <a:ext cx="3657600" cy="502920"/>
          </a:xfrm>
          <a:prstGeom prst="rect">
            <a:avLst/>
          </a:prstGeom>
          <a:solidFill>
            <a:srgbClr val="112244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4315968" y="3639312"/>
            <a:ext cx="3438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🕸  Thematic Echo Chambers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4315968" y="4160520"/>
            <a:ext cx="343814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F2F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EF2F8"/>
                </a:solidFill>
                <a:latin typeface="Calibri"/>
                <a:ea typeface="Calibri"/>
                <a:cs typeface="Calibri"/>
                <a:sym typeface="Calibri"/>
              </a:rPr>
              <a:t>74 communities with near one-to-one subreddit↔community correspondence. Few dominant hubs (Fun_With_Forks). Limited cross-pollination across sports.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457200" y="6565392"/>
            <a:ext cx="11247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Davide Fabio Loreti</a:t>
            </a:r>
            <a:r>
              <a:rPr lang="en-US" sz="80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(865309)</a:t>
            </a:r>
            <a:r>
              <a:rPr lang="en-US" sz="8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·  Carlo Pegoraro (865329)  ·  Social Media Analytics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1201</Words>
  <Application>Microsoft Office PowerPoint</Application>
  <PresentationFormat>Widescreen</PresentationFormat>
  <Paragraphs>226</Paragraphs>
  <Slides>15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Davide Fabio Loreti &amp; Carlo Pegoraro</dc:creator>
  <cp:lastModifiedBy>c.pegoraro1@campus.unimib.it</cp:lastModifiedBy>
  <cp:revision>4</cp:revision>
  <dcterms:created xsi:type="dcterms:W3CDTF">2026-04-09T08:56:32Z</dcterms:created>
  <dcterms:modified xsi:type="dcterms:W3CDTF">2026-06-22T18:03:24Z</dcterms:modified>
</cp:coreProperties>
</file>